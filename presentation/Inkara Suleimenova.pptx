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86" r:id="rId3"/>
    <p:sldId id="283" r:id="rId4"/>
    <p:sldId id="284" r:id="rId5"/>
    <p:sldId id="285" r:id="rId6"/>
    <p:sldId id="261" r:id="rId7"/>
    <p:sldId id="287" r:id="rId8"/>
    <p:sldId id="288" r:id="rId9"/>
    <p:sldId id="289" r:id="rId10"/>
    <p:sldId id="290" r:id="rId11"/>
    <p:sldId id="291" r:id="rId12"/>
    <p:sldId id="269" r:id="rId13"/>
    <p:sldId id="270" r:id="rId14"/>
    <p:sldId id="273" r:id="rId15"/>
    <p:sldId id="274" r:id="rId16"/>
    <p:sldId id="275" r:id="rId17"/>
    <p:sldId id="276" r:id="rId18"/>
    <p:sldId id="280" r:id="rId19"/>
    <p:sldId id="292" r:id="rId20"/>
    <p:sldId id="279" r:id="rId21"/>
    <p:sldId id="278" r:id="rId22"/>
    <p:sldId id="281" r:id="rId23"/>
    <p:sldId id="282" r:id="rId24"/>
    <p:sldId id="293" r:id="rId25"/>
    <p:sldId id="294" r:id="rId26"/>
    <p:sldId id="295" r:id="rId27"/>
    <p:sldId id="296" r:id="rId28"/>
    <p:sldId id="297" r:id="rId29"/>
    <p:sldId id="299" r:id="rId30"/>
    <p:sldId id="301" r:id="rId31"/>
    <p:sldId id="302" r:id="rId3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8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395BB-DF7C-8A10-0CAA-F83F0CD4D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CD0027-B5FD-031F-3D6E-FF9635D1B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87E1B9-A78C-0DD1-A8BE-7DC125E4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140D8E-A6B4-8348-9E97-F38DC75B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4FD072-20C4-8299-FEBC-765E1DEF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967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67A78-B596-6D73-F429-2901846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7D5D3F-A4BD-62BE-1CD5-CE0C0DEAC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6948B5-8BED-4FF4-3ECC-90CC8367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737C51-D10E-0284-A096-F9F686DA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9B2F7-3CBB-ED9F-1799-52E7AB9A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2620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B9739-4ECF-8162-C561-2B232711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A0DB00-C617-FCBB-E893-1DE56E509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DD4325-7615-68E9-995D-86718F37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790D9-1B70-B48E-79F3-05FBFCE4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2AE408-AA73-FAD3-0A42-6E9DEA4B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8728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26907-FDC2-9421-8A1D-3334A5A7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1500D-2AB0-8CF3-17F3-EA17BC226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D5E0EF-1FAE-15ED-24D2-3096D215A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1A7982-5081-2551-8A53-16B4916A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26268-0DAE-4568-46DC-8E51D87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DD5EE1-E4B4-CAE3-7745-27DF2A68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6028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35F3E-77F5-B505-7657-B2595205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039F33-B5C0-63D1-8158-5D5D1FCA4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FC1563-9DEE-B8BE-55AE-190E46607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583CEF-5E71-62C0-2244-C7B18B873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DFFFA4-13CF-BDCA-4C1F-5B9DC4E9D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F8424F-EEFC-77FE-8C76-410A380A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B6A817-3366-92A8-B9AA-2884D3CB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416A5C-1567-1CBD-B22E-BEE4FDE2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986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0EEA7-F6DD-7090-4A82-F4DCA496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4DEF92-5859-E975-E4F7-CEF9305D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B07296-68DC-47A7-1FCA-8DF19D2F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2C50F4-F47E-3EC8-05A7-1EE009B1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7925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13A8C1-95F6-BB7E-8871-43948A57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331B10-E3A9-B0D9-96F5-4D44B56C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08CB79-B25E-8757-032A-A8751931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7013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763DD-1B92-BB3C-D1D7-C9E150D3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000DF-30A8-3C5F-DC80-427D4251C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1B0081-B120-D34B-6316-4938B4346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A0110-A47A-9AD7-A26C-BDFDE22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95BE47-AE22-E467-271B-5BDD8068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6C422-2BB2-8364-2D2C-5E34080C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880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50A24-024D-9B2F-33D8-D74352CD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43D6AD-D5C1-D109-91ED-6DB749F74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7C7774-68AC-D514-FA7C-2D0D23F9B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9E414A-33AB-7736-CF75-1701976D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987D1A-35DD-8BD1-CD08-97DCAD56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3BCE17-7CA3-42CC-CC52-181B07B0E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79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1D422-D423-59A3-4620-C1B5C182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5B929D-7BE3-ED34-0912-69D66976E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F692B7-5DFB-F64C-1559-EEC3366B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14BC80-D760-F136-9BC7-77FB104E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544B6C-C17A-CD19-1072-7C40D97E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1980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2909B2-EAE2-55C4-07F2-078A99F33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1FB635-885D-4F5E-BAEC-94790632C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72AB2B-C8E1-6156-027A-E2F6C4AC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1AE11-3A1D-38BD-9862-6B70E29C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DB3E62-D83E-C0BD-C57D-9EB7665B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730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09B34-E977-B9C3-D78A-8141F001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BD5AF-8B3A-3473-BB5B-A051B176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D5B58-4255-A27D-8C6A-9AA1E0F81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1DD7A-38BF-4361-B599-44B7DB0A7B42}" type="datetimeFigureOut">
              <a:rPr lang="ru-KZ" smtClean="0"/>
              <a:t>29.04.2026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B9142-5D27-098B-9638-C44E3A8A8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BBD41E-F750-53C4-DCB1-E5687EA8C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13EE0-C7FE-4E49-BDA1-2D3491D7BC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5346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66D43-2DC7-9FC2-1D4D-179D225737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Итоговый проект </a:t>
            </a:r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A96F6F-FFE9-7D3A-F178-17DC83FFB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Сулейменова Инкара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3665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0DDDD-6600-7905-C062-EF931623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20967"/>
            <a:ext cx="3932237" cy="1600200"/>
          </a:xfrm>
        </p:spPr>
        <p:txBody>
          <a:bodyPr/>
          <a:lstStyle/>
          <a:p>
            <a:r>
              <a:rPr lang="ru-RU" dirty="0"/>
              <a:t>Описание датасета</a:t>
            </a:r>
            <a:endParaRPr lang="ru-KZ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98F341-D370-341F-CFAE-71FA04D1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21167"/>
            <a:ext cx="3932237" cy="3811588"/>
          </a:xfrm>
        </p:spPr>
        <p:txBody>
          <a:bodyPr/>
          <a:lstStyle/>
          <a:p>
            <a:r>
              <a:rPr lang="ru-RU" b="1" dirty="0"/>
              <a:t>Источник данных:</a:t>
            </a:r>
            <a:r>
              <a:rPr lang="ru-RU" dirty="0"/>
              <a:t> </a:t>
            </a:r>
            <a:r>
              <a:rPr lang="en-US" dirty="0"/>
              <a:t>Kaggle dataset </a:t>
            </a:r>
            <a:r>
              <a:rPr lang="en-US" i="1" dirty="0"/>
              <a:t>NASA Exoplanet Archive Intelligence</a:t>
            </a:r>
            <a:br>
              <a:rPr lang="en-US" dirty="0"/>
            </a:br>
            <a:r>
              <a:rPr lang="ru-RU" b="1" dirty="0"/>
              <a:t>Основа данных:</a:t>
            </a:r>
            <a:r>
              <a:rPr lang="ru-RU" dirty="0"/>
              <a:t> </a:t>
            </a:r>
            <a:r>
              <a:rPr lang="en-US" dirty="0"/>
              <a:t>NASA Exoplanet Archive</a:t>
            </a:r>
            <a:br>
              <a:rPr lang="en-US" dirty="0"/>
            </a:br>
            <a:r>
              <a:rPr lang="ru-RU" b="1" dirty="0"/>
              <a:t>Объект исследования:</a:t>
            </a:r>
            <a:r>
              <a:rPr lang="ru-RU" dirty="0"/>
              <a:t> подтвержденные экзопланеты</a:t>
            </a:r>
            <a:br>
              <a:rPr lang="ru-RU" dirty="0"/>
            </a:br>
            <a:r>
              <a:rPr lang="ru-RU" b="1" dirty="0"/>
              <a:t>Целевая переменная:</a:t>
            </a:r>
            <a:r>
              <a:rPr lang="ru-RU" dirty="0"/>
              <a:t> </a:t>
            </a:r>
            <a:r>
              <a:rPr lang="en-US" dirty="0">
                <a:latin typeface="Courier New" panose="02070309020205020404" pitchFamily="49" charset="0"/>
              </a:rPr>
              <a:t>Planet Type</a:t>
            </a:r>
            <a:endParaRPr lang="ru-KZ" dirty="0"/>
          </a:p>
          <a:p>
            <a:endParaRPr lang="ru-KZ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5E4DC3-A654-7494-22DC-8F916A21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629271"/>
            <a:ext cx="7143081" cy="359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5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8EA53-B3B4-B009-4875-6A25EA12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40" y="457200"/>
            <a:ext cx="4233657" cy="1600200"/>
          </a:xfrm>
        </p:spPr>
        <p:txBody>
          <a:bodyPr/>
          <a:lstStyle/>
          <a:p>
            <a:r>
              <a:rPr lang="ru-RU" dirty="0"/>
              <a:t>Актуальность проекта</a:t>
            </a:r>
            <a:endParaRPr lang="ru-KZ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0371C0-EBE8-7F5B-4AC7-4D1EA391D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640" y="1949245"/>
            <a:ext cx="3932237" cy="3811588"/>
          </a:xfrm>
        </p:spPr>
        <p:txBody>
          <a:bodyPr/>
          <a:lstStyle/>
          <a:p>
            <a:r>
              <a:rPr lang="ru-RU" dirty="0"/>
              <a:t>Актуальность проекта связана с быстрым ростом количества открытых экзопланет и необходимостью автоматизированного анализа астрономических данных. Использование методов машинного обучения позволяет классифицировать экзопланеты по их физическим и орбитальным характеристикам. В данном проекте модель прогнозирует переменную Planet Type, то есть определяет тип экзопланеты на основе доступных параметров из NASA </a:t>
            </a:r>
            <a:r>
              <a:rPr lang="ru-RU" dirty="0" err="1"/>
              <a:t>Exoplanet</a:t>
            </a:r>
            <a:r>
              <a:rPr lang="ru-RU" dirty="0"/>
              <a:t> </a:t>
            </a:r>
            <a:r>
              <a:rPr lang="ru-RU" dirty="0" err="1"/>
              <a:t>Archive</a:t>
            </a:r>
            <a:r>
              <a:rPr lang="ru-RU" dirty="0"/>
              <a:t> Intelligence.</a:t>
            </a:r>
            <a:endParaRPr lang="ru-KZ" dirty="0"/>
          </a:p>
          <a:p>
            <a:endParaRPr lang="ru-KZ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20F40C-9C6C-2650-D39B-67BD2A2CA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728019"/>
            <a:ext cx="7042464" cy="34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0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2F83A-1B51-7B85-3046-52697337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66218"/>
            <a:ext cx="4630615" cy="1325563"/>
          </a:xfrm>
        </p:spPr>
        <p:txBody>
          <a:bodyPr>
            <a:normAutofit fontScale="90000"/>
          </a:bodyPr>
          <a:lstStyle/>
          <a:p>
            <a:r>
              <a:rPr lang="ru-KZ" dirty="0"/>
              <a:t>https://exoplanetarchive.ipac.caltech.edu/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1336903-B3C2-AFB4-C1EB-FA5DC2E559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68815" y="745632"/>
            <a:ext cx="5884985" cy="2950159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DAA83ADD-44DD-AF80-1ED6-72B36E6269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68816" y="4307494"/>
            <a:ext cx="5884984" cy="169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8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FB4C4-AC5D-1A41-9BFC-AD4745DD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F79B21-AFE8-E5A4-BB1E-5956E39D0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b="1" dirty="0"/>
              <a:t>Цель проекта:</a:t>
            </a:r>
            <a:endParaRPr lang="en-US" b="1" dirty="0"/>
          </a:p>
          <a:p>
            <a:r>
              <a:rPr lang="ru-RU" dirty="0"/>
              <a:t>Сравнить модели машинного обучения для классификации экзопланет датасета NASA </a:t>
            </a:r>
            <a:r>
              <a:rPr lang="ru-RU" dirty="0" err="1"/>
              <a:t>Exoplanet</a:t>
            </a:r>
            <a:r>
              <a:rPr lang="ru-RU" dirty="0"/>
              <a:t> </a:t>
            </a:r>
            <a:r>
              <a:rPr lang="ru-RU" dirty="0" err="1"/>
              <a:t>Archive</a:t>
            </a:r>
            <a:r>
              <a:rPr lang="ru-RU" dirty="0"/>
              <a:t> Intelligence.</a:t>
            </a:r>
          </a:p>
          <a:p>
            <a:pPr>
              <a:buNone/>
            </a:pPr>
            <a:r>
              <a:rPr lang="ru-RU" b="1" dirty="0"/>
              <a:t>Задачи проекта: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Изучить структуру датасета и определить целевую переменную </a:t>
            </a:r>
            <a:r>
              <a:rPr lang="ru-RU" b="1" dirty="0"/>
              <a:t>Planet Type</a:t>
            </a:r>
            <a:r>
              <a:rPr lang="ru-RU" dirty="0"/>
              <a:t>. </a:t>
            </a:r>
          </a:p>
          <a:p>
            <a:pPr>
              <a:buFont typeface="+mj-lt"/>
              <a:buAutoNum type="arabicPeriod"/>
            </a:pPr>
            <a:r>
              <a:rPr lang="ru-RU" dirty="0"/>
              <a:t>Выполнить разведочный анализ данных и визуализировать основные зависимости. </a:t>
            </a:r>
          </a:p>
          <a:p>
            <a:pPr>
              <a:buFont typeface="+mj-lt"/>
              <a:buAutoNum type="arabicPeriod"/>
            </a:pPr>
            <a:r>
              <a:rPr lang="ru-RU" dirty="0"/>
              <a:t>Разделить данные на обучающую и тестовую выборки. </a:t>
            </a:r>
          </a:p>
          <a:p>
            <a:pPr>
              <a:buFont typeface="+mj-lt"/>
              <a:buAutoNum type="arabicPeriod"/>
            </a:pPr>
            <a:r>
              <a:rPr lang="ru-RU" dirty="0"/>
              <a:t>Обучить несколько моделей машинного обучения для классификации типа экзопланеты. </a:t>
            </a:r>
          </a:p>
          <a:p>
            <a:pPr>
              <a:buFont typeface="+mj-lt"/>
              <a:buAutoNum type="arabicPeriod"/>
            </a:pPr>
            <a:r>
              <a:rPr lang="ru-RU" dirty="0"/>
              <a:t>Оценить качество моделей с помощью метрик </a:t>
            </a:r>
            <a:r>
              <a:rPr lang="ru-RU" dirty="0" err="1"/>
              <a:t>accuracy</a:t>
            </a:r>
            <a:r>
              <a:rPr lang="ru-RU" dirty="0"/>
              <a:t>, </a:t>
            </a:r>
            <a:r>
              <a:rPr lang="ru-RU" dirty="0" err="1"/>
              <a:t>precision</a:t>
            </a:r>
            <a:r>
              <a:rPr lang="ru-RU" dirty="0"/>
              <a:t>, </a:t>
            </a:r>
            <a:r>
              <a:rPr lang="ru-RU" dirty="0" err="1"/>
              <a:t>recall</a:t>
            </a:r>
            <a:r>
              <a:rPr lang="ru-RU" dirty="0"/>
              <a:t> и F1-score. </a:t>
            </a:r>
          </a:p>
          <a:p>
            <a:pPr>
              <a:buFont typeface="+mj-lt"/>
              <a:buAutoNum type="arabicPeriod"/>
            </a:pPr>
            <a:r>
              <a:rPr lang="ru-RU" dirty="0"/>
              <a:t>Сделать вывод о наиболее подходящей модели для данной задач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24210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D54D7-D810-3AEC-3068-AA693253EB97}"/>
              </a:ext>
            </a:extLst>
          </p:cNvPr>
          <p:cNvSpPr txBox="1"/>
          <p:nvPr/>
        </p:nvSpPr>
        <p:spPr>
          <a:xfrm>
            <a:off x="560438" y="59971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Терминология: типы экзопланет</a:t>
            </a:r>
            <a:endParaRPr lang="ru-KZ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B2098-D6BB-E1B0-7C53-630C8189FE5D}"/>
              </a:ext>
            </a:extLst>
          </p:cNvPr>
          <p:cNvSpPr txBox="1"/>
          <p:nvPr/>
        </p:nvSpPr>
        <p:spPr>
          <a:xfrm>
            <a:off x="567813" y="1184486"/>
            <a:ext cx="10785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Экзопланета</a:t>
            </a:r>
            <a:r>
              <a:rPr lang="ru-RU" dirty="0"/>
              <a:t> — это планета, которая находится за пределами Солнечной системы и вращается вокруг другой звезды.</a:t>
            </a:r>
            <a:endParaRPr lang="ru-KZ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819B4B7-6ADF-F17F-B80E-B2F20200E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69934"/>
              </p:ext>
            </p:extLst>
          </p:nvPr>
        </p:nvGraphicFramePr>
        <p:xfrm>
          <a:off x="567813" y="1960609"/>
          <a:ext cx="105156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888381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23488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9154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Тип планеты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Простое объяснение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46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Mini-Neptune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dirty="0"/>
                        <a:t>1967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планеты меньше Нептуна, но обычно с газовой оболочкой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81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Super-Earth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dirty="0"/>
                        <a:t>1050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планеты больше Земли, но меньше Нептуна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105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Gas Giant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dirty="0"/>
                        <a:t>558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крупные газовые планеты, похожие на Юпитер или Сатурн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82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Neptune-like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dirty="0"/>
                        <a:t>378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планеты, похожие по размеру и составу на Нептун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76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Sub-Earth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/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планеты меньше Земли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799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Super-Jupiter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/>
                        <a:t>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очень массивные газовые гиганты, больше Юпитера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742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Unknown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тип планеты не определен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38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65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04AFD-0679-DBE3-4A03-4BF4D348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Разведочный анализ данных (</a:t>
            </a:r>
            <a:r>
              <a:rPr lang="en-US" dirty="0"/>
              <a:t>EDA)</a:t>
            </a:r>
            <a:br>
              <a:rPr lang="ru-KZ" dirty="0"/>
            </a:br>
            <a:r>
              <a:rPr lang="ru-RU" sz="2400" dirty="0">
                <a:solidFill>
                  <a:srgbClr val="000000"/>
                </a:solidFill>
              </a:rPr>
              <a:t>Шаг 1 - Загрузка и исследование данных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0364D8E-1BA9-EE56-2276-6ACC74BD5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203" y="1815793"/>
            <a:ext cx="90855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ED1BD-F744-390E-B5BF-EBB84A8B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Разведочный анализ данных (</a:t>
            </a:r>
            <a:r>
              <a:rPr lang="en-US" dirty="0"/>
              <a:t>EDA)</a:t>
            </a:r>
            <a:br>
              <a:rPr lang="ru-KZ" dirty="0"/>
            </a:br>
            <a:r>
              <a:rPr lang="ru-RU" sz="2200" dirty="0"/>
              <a:t>Шаг 2 - Поиск, удаление и заполнение пропущенных значений</a:t>
            </a:r>
            <a:endParaRPr lang="ru-KZ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C07F5C-43D9-E1F1-B468-916A64EF7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0990"/>
            <a:ext cx="1981098" cy="465290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2E6B84-1DFA-AFA5-B4F7-40B87231C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435" y="3273614"/>
            <a:ext cx="5453130" cy="132902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E33FBB-E42A-5904-A188-2F01431E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8478" y="1989652"/>
            <a:ext cx="2099290" cy="4654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89D663-CA2C-9973-502D-655DE0FD008A}"/>
              </a:ext>
            </a:extLst>
          </p:cNvPr>
          <p:cNvSpPr txBox="1"/>
          <p:nvPr/>
        </p:nvSpPr>
        <p:spPr>
          <a:xfrm>
            <a:off x="1504336" y="1592826"/>
            <a:ext cx="198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До:</a:t>
            </a:r>
            <a:endParaRPr lang="ru-K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0E905-5DED-0544-EF69-6DE565D77E42}"/>
              </a:ext>
            </a:extLst>
          </p:cNvPr>
          <p:cNvSpPr txBox="1"/>
          <p:nvPr/>
        </p:nvSpPr>
        <p:spPr>
          <a:xfrm>
            <a:off x="4021394" y="2477729"/>
            <a:ext cx="3873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Скрипт для заполнению пустых полей:</a:t>
            </a:r>
            <a:endParaRPr lang="ru-K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BEC4-8FED-FB41-B611-B49836AD4739}"/>
              </a:ext>
            </a:extLst>
          </p:cNvPr>
          <p:cNvSpPr txBox="1"/>
          <p:nvPr/>
        </p:nvSpPr>
        <p:spPr>
          <a:xfrm>
            <a:off x="9778180" y="1506166"/>
            <a:ext cx="181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После: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7328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55E42-FDAA-6006-88CD-C792A2AC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Разведочный анализ данных (</a:t>
            </a:r>
            <a:r>
              <a:rPr lang="en-US" dirty="0"/>
              <a:t>EDA)</a:t>
            </a:r>
            <a:br>
              <a:rPr lang="ru-KZ" dirty="0"/>
            </a:br>
            <a:r>
              <a:rPr lang="ru-RU" sz="2200" dirty="0"/>
              <a:t>Шаг 3 - Удаление ненужных столбцов (ID, имя и т.п.)</a:t>
            </a:r>
            <a:endParaRPr lang="ru-KZ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E4215C-F5DC-B027-8761-6454A10D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9974"/>
            <a:ext cx="3706037" cy="46007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13CDF0-7E0C-8155-14FE-0EA0D510A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9" y="3429000"/>
            <a:ext cx="6508955" cy="784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E4DD98-7B07-7741-77EE-A29337038275}"/>
              </a:ext>
            </a:extLst>
          </p:cNvPr>
          <p:cNvSpPr txBox="1"/>
          <p:nvPr/>
        </p:nvSpPr>
        <p:spPr>
          <a:xfrm>
            <a:off x="6096000" y="284895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Скрипт для удаления ненужного столбца: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79431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DAC9-93F5-F43C-B49A-0FB7F7B7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Разведочный анализ данных (</a:t>
            </a:r>
            <a:r>
              <a:rPr lang="en-US" dirty="0"/>
              <a:t>EDA)</a:t>
            </a:r>
            <a:br>
              <a:rPr lang="ru-KZ" dirty="0"/>
            </a:br>
            <a:r>
              <a:rPr lang="ru-RU" sz="2200" dirty="0"/>
              <a:t>Шаг 4 - Обнаружение и удаление дубликатов</a:t>
            </a:r>
            <a:endParaRPr lang="ru-KZ" sz="2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10AC9F-9CA3-71A5-B874-A368D38DD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336" y="3153450"/>
            <a:ext cx="8259328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0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6FDA4-53D4-F575-605A-B41C4F42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</a:t>
            </a:r>
            <a:endParaRPr lang="ru-KZ" sz="2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B9CBB6-6B72-3944-052C-557850A3A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97" y="1690688"/>
            <a:ext cx="7897327" cy="885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F0E406-5423-E018-21FF-39D5C01F44D4}"/>
              </a:ext>
            </a:extLst>
          </p:cNvPr>
          <p:cNvSpPr txBox="1"/>
          <p:nvPr/>
        </p:nvSpPr>
        <p:spPr>
          <a:xfrm>
            <a:off x="717755" y="1838632"/>
            <a:ext cx="284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Скрипт для введения новой переменной: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22D021-1F4B-2B85-7698-859887D68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5" y="2724581"/>
            <a:ext cx="4685602" cy="168681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5C63EC-FB95-5EC2-9B65-4D92A6A90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4559342"/>
            <a:ext cx="4178711" cy="21977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5C444D-0076-CD72-050B-A0B8AC53C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316" y="2724581"/>
            <a:ext cx="5368411" cy="17044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680DE-A83E-FE57-A9B9-DCA0659F4B59}"/>
              </a:ext>
            </a:extLst>
          </p:cNvPr>
          <p:cNvSpPr txBox="1"/>
          <p:nvPr/>
        </p:nvSpPr>
        <p:spPr>
          <a:xfrm>
            <a:off x="5444878" y="326401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endParaRPr lang="ru-K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C7CDC-0504-B337-02B7-809C58E614FB}"/>
              </a:ext>
            </a:extLst>
          </p:cNvPr>
          <p:cNvSpPr txBox="1"/>
          <p:nvPr/>
        </p:nvSpPr>
        <p:spPr>
          <a:xfrm>
            <a:off x="5444878" y="5473565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  <a:endParaRPr lang="ru-K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8C7D0-2322-1043-F17B-7BB238055D18}"/>
              </a:ext>
            </a:extLst>
          </p:cNvPr>
          <p:cNvSpPr txBox="1"/>
          <p:nvPr/>
        </p:nvSpPr>
        <p:spPr>
          <a:xfrm>
            <a:off x="11663249" y="326401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endParaRPr lang="ru-K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6AF35-70E9-6D49-0C86-9A681A4A192C}"/>
              </a:ext>
            </a:extLst>
          </p:cNvPr>
          <p:cNvSpPr txBox="1"/>
          <p:nvPr/>
        </p:nvSpPr>
        <p:spPr>
          <a:xfrm>
            <a:off x="7885469" y="5167312"/>
            <a:ext cx="3736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Гистограмма</a:t>
            </a:r>
          </a:p>
          <a:p>
            <a:pPr marL="342900" indent="-342900">
              <a:buAutoNum type="arabicPeriod"/>
            </a:pPr>
            <a:r>
              <a:rPr lang="en-US" dirty="0"/>
              <a:t>QQ plot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Тест Шапиро-</a:t>
            </a:r>
            <a:r>
              <a:rPr lang="ru-RU" dirty="0" err="1"/>
              <a:t>Уилка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84877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CB60F-6719-8B11-39AB-E18840324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293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(Гистограмма)</a:t>
            </a:r>
            <a:endParaRPr lang="ru-KZ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B41AE37C-E77A-E8C2-9CF8-E54428AD6B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68856"/>
            <a:ext cx="5181600" cy="4064875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ABB95846-0040-DB5B-8A07-BD8DC1ACC0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968856"/>
            <a:ext cx="5181600" cy="406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6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44567-B2D2-4505-C14F-8DB83BE7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(Гистограмма)</a:t>
            </a:r>
            <a:endParaRPr lang="ru-KZ" sz="22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9AD0B37-5B51-3B0E-7551-FA44EBF372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68856"/>
            <a:ext cx="5181600" cy="4064875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3AD1DA66-7E8A-77C4-48FE-89033F2C66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68856"/>
            <a:ext cx="5181600" cy="406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5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60E86-2CF8-E6BF-69B1-D377A8D2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</a:t>
            </a:r>
            <a:r>
              <a:rPr lang="en-US" sz="2200" dirty="0"/>
              <a:t>QQ-plot</a:t>
            </a:r>
            <a:r>
              <a:rPr lang="ru-RU" sz="2200" dirty="0"/>
              <a:t>)</a:t>
            </a:r>
            <a:endParaRPr lang="ru-KZ" sz="2200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DF04797-5008-1DB8-7298-8EABF57B23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50050"/>
            <a:ext cx="5181600" cy="3702488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095B47B-9883-4B78-9A42-B7AD1D66C6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81062" y="2129631"/>
            <a:ext cx="50958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09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AA5A-9E60-811C-9E08-B766F2B5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61B1C-C9DC-030F-950A-5EECDE31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</a:t>
            </a:r>
            <a:r>
              <a:rPr lang="en-US" sz="2200" dirty="0"/>
              <a:t>QQ-plot</a:t>
            </a:r>
            <a:r>
              <a:rPr lang="ru-RU" sz="2200" dirty="0"/>
              <a:t>)</a:t>
            </a:r>
            <a:endParaRPr lang="ru-KZ" sz="22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28A2433-E227-94F7-AC4F-5A97E6443C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50050"/>
            <a:ext cx="5181600" cy="3702488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09A1C93B-D10E-BA28-7837-BF19E029C7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60093"/>
            <a:ext cx="5181600" cy="368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ACE7C-14BF-A9C8-08B6-E96C4C32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</a:t>
            </a:r>
            <a:r>
              <a:rPr lang="ru-RU" sz="2400" dirty="0"/>
              <a:t>Тест Шапиро-</a:t>
            </a:r>
            <a:r>
              <a:rPr lang="ru-RU" sz="2400" dirty="0" err="1"/>
              <a:t>Уилка</a:t>
            </a:r>
            <a:r>
              <a:rPr lang="ru-RU" sz="2200" dirty="0"/>
              <a:t>)</a:t>
            </a:r>
            <a:endParaRPr lang="ru-KZ" sz="22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2E5381E-9AF9-7734-97A9-2D081A04D9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8444" y="3467819"/>
            <a:ext cx="4201111" cy="1066949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9AF5800C-CF46-43FF-DD89-2E61CC532F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95760" y="3482109"/>
            <a:ext cx="433448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73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9648-F261-48FC-D7B5-C40107E3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F7EE3-4A67-5AD1-99CF-E482BA1C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200" dirty="0"/>
              <a:t>Шаг 5 - Определения распределения признаков (</a:t>
            </a:r>
            <a:r>
              <a:rPr lang="ru-RU" sz="2400" dirty="0"/>
              <a:t>Тест Шапиро-</a:t>
            </a:r>
            <a:r>
              <a:rPr lang="ru-RU" sz="2400" dirty="0" err="1"/>
              <a:t>Уилка</a:t>
            </a:r>
            <a:r>
              <a:rPr lang="ru-RU" sz="2200" dirty="0"/>
              <a:t>)</a:t>
            </a:r>
            <a:endParaRPr lang="ru-KZ" sz="22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C5AFB30-4E3A-8AAE-3831-F9680191B7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9602" y="3486872"/>
            <a:ext cx="4086795" cy="1028844"/>
          </a:xfrm>
          <a:prstGeom prst="rect">
            <a:avLst/>
          </a:prstGeom>
        </p:spPr>
      </p:pic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D81A949C-5951-AB96-E113-279EE0B9E9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90339" y="3415424"/>
            <a:ext cx="4277322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F0B5D-9C41-5AA2-4E31-D83BD208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23" y="1977154"/>
            <a:ext cx="4217705" cy="3113139"/>
          </a:xfrm>
        </p:spPr>
        <p:txBody>
          <a:bodyPr>
            <a:normAutofit fontScale="90000"/>
          </a:bodyPr>
          <a:lstStyle/>
          <a:p>
            <a:r>
              <a:rPr lang="ru-RU" sz="4900" dirty="0">
                <a:latin typeface="Google Sans"/>
              </a:rPr>
              <a:t>Разведочный анализ данных (</a:t>
            </a:r>
            <a:r>
              <a:rPr lang="en-US" sz="4900" dirty="0">
                <a:latin typeface="Google Sans"/>
              </a:rPr>
              <a:t>EDA)</a:t>
            </a:r>
            <a:r>
              <a:rPr lang="ru-RU" sz="4900" dirty="0"/>
              <a:t> </a:t>
            </a:r>
            <a:br>
              <a:rPr lang="ru-RU" dirty="0"/>
            </a:br>
            <a:r>
              <a:rPr lang="ru-RU" sz="2200" dirty="0"/>
              <a:t>Шаг 6 - Удаление признаков с высокой корреляцией</a:t>
            </a:r>
            <a:br>
              <a:rPr lang="ru-KZ" dirty="0"/>
            </a:br>
            <a:br>
              <a:rPr lang="ru-KZ" dirty="0"/>
            </a:b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0C9033-8AD9-C833-2E4F-CB6A1E5B19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8476" b="8476"/>
          <a:stretch>
            <a:fillRect/>
          </a:stretch>
        </p:blipFill>
        <p:spPr>
          <a:xfrm>
            <a:off x="5183188" y="987425"/>
            <a:ext cx="617220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1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37DAC-617E-D2BE-0EE4-B2142EEB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900" dirty="0">
                <a:latin typeface="Google Sans"/>
              </a:rPr>
              <a:t>Разведочный анализ данных (</a:t>
            </a:r>
            <a:r>
              <a:rPr lang="en-US" sz="4900" dirty="0">
                <a:latin typeface="Google Sans"/>
              </a:rPr>
              <a:t>EDA)</a:t>
            </a:r>
            <a:r>
              <a:rPr lang="ru-RU" sz="4900" dirty="0"/>
              <a:t> </a:t>
            </a:r>
            <a:br>
              <a:rPr lang="ru-RU" dirty="0"/>
            </a:br>
            <a:r>
              <a:rPr lang="ru-RU" sz="2200" dirty="0"/>
              <a:t>Шаг 6 - Удаление признаков с высокой корреляцией</a:t>
            </a:r>
            <a:endParaRPr lang="ru-KZ" sz="2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0B23D5-BF64-F500-AF48-DB5B8CD5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47" y="2810664"/>
            <a:ext cx="9831172" cy="95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88DB56-0D39-903B-3F38-C2AC67FE912F}"/>
              </a:ext>
            </a:extLst>
          </p:cNvPr>
          <p:cNvSpPr txBox="1"/>
          <p:nvPr/>
        </p:nvSpPr>
        <p:spPr>
          <a:xfrm>
            <a:off x="838200" y="2231923"/>
            <a:ext cx="988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Скрипт для выведения корреляционной таблицы: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BD902D-C786-4E3A-06F0-ABF00EEDE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8" y="4654995"/>
            <a:ext cx="9831172" cy="594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C5EBDE-7812-30E9-9704-CC77D6988146}"/>
              </a:ext>
            </a:extLst>
          </p:cNvPr>
          <p:cNvSpPr txBox="1"/>
          <p:nvPr/>
        </p:nvSpPr>
        <p:spPr>
          <a:xfrm>
            <a:off x="888447" y="4024480"/>
            <a:ext cx="988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Скрипт для удаления признаков с высокой корреляцией: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92698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8B79A-524E-036A-04AD-4EE7AD7C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br>
              <a:rPr lang="ru-KZ" dirty="0"/>
            </a:br>
            <a:r>
              <a:rPr lang="ru-RU" sz="2000" dirty="0"/>
              <a:t>Шаг 7 - Удаление шумов</a:t>
            </a:r>
            <a:endParaRPr lang="ru-KZ" sz="20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BCCEBAC-01EF-8978-4053-7DBA772A0D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98341"/>
            <a:ext cx="5181600" cy="4205905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593F4178-20FA-D578-DED6-53BEC9B35C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79650"/>
            <a:ext cx="5181600" cy="404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1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0C0C6-2AC0-85D6-098B-9652A907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529" y="1548185"/>
            <a:ext cx="4219496" cy="3752104"/>
          </a:xfrm>
        </p:spPr>
        <p:txBody>
          <a:bodyPr>
            <a:normAutofit fontScale="90000"/>
          </a:bodyPr>
          <a:lstStyle/>
          <a:p>
            <a:r>
              <a:rPr lang="ru-RU" sz="4900" dirty="0">
                <a:latin typeface="Google Sans"/>
              </a:rPr>
              <a:t>Разведочный анализ данных (</a:t>
            </a:r>
            <a:r>
              <a:rPr lang="en-US" sz="4900" dirty="0">
                <a:latin typeface="Google Sans"/>
              </a:rPr>
              <a:t>EDA)</a:t>
            </a:r>
            <a:r>
              <a:rPr lang="ru-RU" sz="4900" dirty="0"/>
              <a:t> </a:t>
            </a:r>
            <a:br>
              <a:rPr lang="ru-RU" dirty="0"/>
            </a:br>
            <a:r>
              <a:rPr lang="ru-RU" dirty="0"/>
              <a:t>Шаг 7 - Удаление шумов</a:t>
            </a:r>
            <a:br>
              <a:rPr lang="ru-KZ" dirty="0"/>
            </a:br>
            <a:br>
              <a:rPr lang="ru-KZ" dirty="0"/>
            </a:br>
            <a:endParaRPr lang="ru-KZ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BDC641-2000-F0A9-2295-D4FB09719EF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027" r="502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91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10E5A-6DF4-4329-5364-7C9DA76F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r>
              <a:rPr lang="ru-RU" dirty="0"/>
              <a:t> </a:t>
            </a:r>
            <a:br>
              <a:rPr lang="ru-RU" dirty="0"/>
            </a:br>
            <a:r>
              <a:rPr lang="ru-RU" sz="2200" dirty="0"/>
              <a:t>Шаг 9 - Кодирование категориальных признаков</a:t>
            </a:r>
            <a:endParaRPr lang="ru-KZ" sz="22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8FE3116-08CC-91C0-53EA-9E0D1808F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9462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ED250B-33E7-660D-E1AB-FB0F2274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5" y="5798982"/>
            <a:ext cx="11719727" cy="83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0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F76D8-2112-D9F9-49DD-48DF4FB8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454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Google Sans"/>
              </a:rPr>
              <a:t>Разведочный анализ данных (</a:t>
            </a:r>
            <a:r>
              <a:rPr lang="en-US" dirty="0">
                <a:latin typeface="Google Sans"/>
              </a:rPr>
              <a:t>EDA)</a:t>
            </a:r>
            <a:r>
              <a:rPr lang="ru-RU" dirty="0"/>
              <a:t> </a:t>
            </a:r>
            <a:br>
              <a:rPr lang="ru-RU" dirty="0"/>
            </a:br>
            <a:r>
              <a:rPr lang="ru-RU" sz="2200" dirty="0"/>
              <a:t>Шаг 8 - Масштабирование числовых признаков</a:t>
            </a:r>
            <a:endParaRPr lang="ru-KZ" sz="22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2630B69-C138-7C79-0FC4-866994327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326" y="1864954"/>
            <a:ext cx="91833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C5CD0-CB8D-DC02-02F0-F5FD16AC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422"/>
            <a:ext cx="10515600" cy="1325563"/>
          </a:xfrm>
        </p:spPr>
        <p:txBody>
          <a:bodyPr/>
          <a:lstStyle/>
          <a:p>
            <a:r>
              <a:rPr lang="ru-RU" dirty="0"/>
              <a:t>Балансировка целевого признака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0D45E7D-3424-9797-2247-6122DB090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124" y="2622292"/>
            <a:ext cx="8411749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47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3E7DC-D2CD-D86A-1C58-3B5BC54B6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Разделение данных на </a:t>
            </a:r>
            <a:r>
              <a:rPr lang="en-US" dirty="0"/>
              <a:t>train </a:t>
            </a:r>
            <a:r>
              <a:rPr lang="ru-RU" dirty="0"/>
              <a:t>и </a:t>
            </a:r>
            <a:r>
              <a:rPr lang="en-US" dirty="0"/>
              <a:t>test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F64C11B-5B8C-E16B-1F0E-458A769C3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835" y="3563083"/>
            <a:ext cx="9888330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25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CBC40-9819-F436-757E-F3F90555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модели классификации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87B98-03B0-8E01-A7F5-6814B026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решения задачи </a:t>
            </a:r>
            <a:r>
              <a:rPr lang="ru-RU" dirty="0" err="1"/>
              <a:t>многоклассовой</a:t>
            </a:r>
            <a:r>
              <a:rPr lang="ru-RU" dirty="0"/>
              <a:t> классификации экзопланет по переменной </a:t>
            </a:r>
            <a:r>
              <a:rPr lang="ru-RU" b="1" dirty="0"/>
              <a:t>Planet Type</a:t>
            </a:r>
            <a:r>
              <a:rPr lang="ru-RU" dirty="0"/>
              <a:t> были применены три модели машинного обучения:</a:t>
            </a:r>
            <a:endParaRPr lang="en-US" dirty="0"/>
          </a:p>
          <a:p>
            <a:endParaRPr lang="ru-KZ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040BF91-A400-EEE0-E6AD-29D964463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147376"/>
              </p:ext>
            </p:extLst>
          </p:nvPr>
        </p:nvGraphicFramePr>
        <p:xfrm>
          <a:off x="1069312" y="3429000"/>
          <a:ext cx="1051560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798999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39698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Назначение в проекте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46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Logistic Regression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Базовая модель для сравнения результатов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01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GradientBoostingClassifier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Ансамблевая модель, которая последовательно улучшает качество классификации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28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Neural Network / MLP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Многослойная нейронная сеть для выявления более сложных зависимостей в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360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9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F11D0-4AB7-BB1E-EBF0-10F57AA8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D994C67-FAD1-AC12-3249-F7FA624463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52981"/>
            <a:ext cx="5181600" cy="3296626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D3089062-6D12-1B55-838A-D5333C8DA1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1630" y="1825625"/>
            <a:ext cx="51627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12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2EFCB-59D7-7B17-8094-5B3E5E12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GradientBoostingClassifier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6337EC-0533-6363-C44D-864CDCDBA0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13509"/>
            <a:ext cx="5181600" cy="3175569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D60ABA9A-C5D4-A098-453C-C6FFE3A2B8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6012" y="1834356"/>
            <a:ext cx="51339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17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36DB-AB2D-7A14-88FE-F2544771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/ MLP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AFA6BA5-20D1-7627-AC7B-1909FA151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136" y="1824448"/>
            <a:ext cx="10515600" cy="43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3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0706D-51D0-64A4-681F-C4C5CDD2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21" y="345460"/>
            <a:ext cx="2756318" cy="1325563"/>
          </a:xfrm>
        </p:spPr>
        <p:txBody>
          <a:bodyPr/>
          <a:lstStyle/>
          <a:p>
            <a:r>
              <a:rPr lang="ru-RU" dirty="0"/>
              <a:t>Вывод</a:t>
            </a:r>
            <a:endParaRPr lang="ru-KZ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F4EC09-948E-39F1-522C-13F5803D2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136488"/>
              </p:ext>
            </p:extLst>
          </p:nvPr>
        </p:nvGraphicFramePr>
        <p:xfrm>
          <a:off x="5583854" y="640478"/>
          <a:ext cx="6549152" cy="58720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7288">
                  <a:extLst>
                    <a:ext uri="{9D8B030D-6E8A-4147-A177-3AD203B41FA5}">
                      <a16:colId xmlns:a16="http://schemas.microsoft.com/office/drawing/2014/main" val="696467712"/>
                    </a:ext>
                  </a:extLst>
                </a:gridCol>
                <a:gridCol w="1637288">
                  <a:extLst>
                    <a:ext uri="{9D8B030D-6E8A-4147-A177-3AD203B41FA5}">
                      <a16:colId xmlns:a16="http://schemas.microsoft.com/office/drawing/2014/main" val="3435285814"/>
                    </a:ext>
                  </a:extLst>
                </a:gridCol>
                <a:gridCol w="1637288">
                  <a:extLst>
                    <a:ext uri="{9D8B030D-6E8A-4147-A177-3AD203B41FA5}">
                      <a16:colId xmlns:a16="http://schemas.microsoft.com/office/drawing/2014/main" val="3359559865"/>
                    </a:ext>
                  </a:extLst>
                </a:gridCol>
                <a:gridCol w="1637288">
                  <a:extLst>
                    <a:ext uri="{9D8B030D-6E8A-4147-A177-3AD203B41FA5}">
                      <a16:colId xmlns:a16="http://schemas.microsoft.com/office/drawing/2014/main" val="1548184934"/>
                    </a:ext>
                  </a:extLst>
                </a:gridCol>
              </a:tblGrid>
              <a:tr h="385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Macro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Вывод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26141"/>
                  </a:ext>
                </a:extLst>
              </a:tr>
              <a:tr h="1253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Logistic Regression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b="1" dirty="0"/>
                        <a:t>0.7723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b="1" dirty="0"/>
                        <a:t>0.77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Базовая модель показала средний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799632"/>
                  </a:ext>
                </a:extLst>
              </a:tr>
              <a:tr h="15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GradientBoostingClassifier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b="1"/>
                        <a:t>1.0000</a:t>
                      </a:r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b="1" dirty="0"/>
                        <a:t>1.00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Показал идеальный результат, но его нужно проверить на утечку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9630"/>
                  </a:ext>
                </a:extLst>
              </a:tr>
              <a:tr h="15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Neural Network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b="1"/>
                        <a:t>0.9187</a:t>
                      </a:r>
                      <a:endParaRPr lang="ru-KZ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KZ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Нейронная сеть показала высокий результат после 100 эпох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91193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пина-истории">
            <a:extLst>
              <a:ext uri="{FF2B5EF4-FFF2-40B4-BE49-F238E27FC236}">
                <a16:creationId xmlns:a16="http://schemas.microsoft.com/office/drawing/2014/main" id="{DE2C8436-B84A-7947-BF04-81D97932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21" y="1365272"/>
            <a:ext cx="5261811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05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пина-истории">
            <a:extLst>
              <a:ext uri="{FF2B5EF4-FFF2-40B4-BE49-F238E27FC236}">
                <a16:creationId xmlns:a16="http://schemas.microsoft.com/office/drawing/2014/main" id="{EBF0FD8C-4DD2-9084-2CE8-76291FB20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49" y="855406"/>
            <a:ext cx="5381151" cy="5147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454562-0D49-9DDB-7E9D-061532320CDA}"/>
              </a:ext>
            </a:extLst>
          </p:cNvPr>
          <p:cNvSpPr txBox="1"/>
          <p:nvPr/>
        </p:nvSpPr>
        <p:spPr>
          <a:xfrm>
            <a:off x="7079226" y="1976284"/>
            <a:ext cx="49161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Спасибо за внимание! </a:t>
            </a:r>
          </a:p>
          <a:p>
            <a:r>
              <a:rPr lang="ru-RU" sz="5400" dirty="0"/>
              <a:t>Вопросы?</a:t>
            </a:r>
            <a:endParaRPr lang="ru-KZ" sz="5400" dirty="0"/>
          </a:p>
        </p:txBody>
      </p:sp>
    </p:spTree>
    <p:extLst>
      <p:ext uri="{BB962C8B-B14F-4D97-AF65-F5344CB8AC3E}">
        <p14:creationId xmlns:p14="http://schemas.microsoft.com/office/powerpoint/2010/main" val="27291777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695</Words>
  <Application>Microsoft Office PowerPoint</Application>
  <PresentationFormat>Широкоэкранный</PresentationFormat>
  <Paragraphs>107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Google Sans</vt:lpstr>
      <vt:lpstr>Тема Office</vt:lpstr>
      <vt:lpstr>Итоговый проект </vt:lpstr>
      <vt:lpstr>Описание датасета</vt:lpstr>
      <vt:lpstr>Актуальность проекта</vt:lpstr>
      <vt:lpstr>https://exoplanetarchive.ipac.caltech.edu/</vt:lpstr>
      <vt:lpstr>Цель и задачи проекта</vt:lpstr>
      <vt:lpstr>Презентация PowerPoint</vt:lpstr>
      <vt:lpstr>Разведочный анализ данных (EDA) Шаг 1 - Загрузка и исследование данных</vt:lpstr>
      <vt:lpstr>Разведочный анализ данных (EDA) Шаг 2 - Поиск, удаление и заполнение пропущенных значений</vt:lpstr>
      <vt:lpstr>Разведочный анализ данных (EDA) Шаг 3 - Удаление ненужных столбцов (ID, имя и т.п.)</vt:lpstr>
      <vt:lpstr>Разведочный анализ данных (EDA) Шаг 4 - Обнаружение и удаление дубликатов</vt:lpstr>
      <vt:lpstr>Разведочный анализ данных (EDA) Шаг 5 - Определения распределения признаков</vt:lpstr>
      <vt:lpstr>Разведочный анализ данных (EDA) Шаг 5 - Определения распределения признаков (Гистограмма)</vt:lpstr>
      <vt:lpstr>Разведочный анализ данных (EDA) Шаг 5 - Определения распределения признаков (Гистограмма)</vt:lpstr>
      <vt:lpstr>Разведочный анализ данных (EDA) Шаг 5 - Определения распределения признаков (QQ-plot)</vt:lpstr>
      <vt:lpstr>Разведочный анализ данных (EDA) Шаг 5 - Определения распределения признаков (QQ-plot)</vt:lpstr>
      <vt:lpstr>Разведочный анализ данных (EDA) Шаг 5 - Определения распределения признаков (Тест Шапиро-Уилка)</vt:lpstr>
      <vt:lpstr>Разведочный анализ данных (EDA) Шаг 5 - Определения распределения признаков (Тест Шапиро-Уилка)</vt:lpstr>
      <vt:lpstr>Разведочный анализ данных (EDA)  Шаг 6 - Удаление признаков с высокой корреляцией  </vt:lpstr>
      <vt:lpstr>Разведочный анализ данных (EDA)  Шаг 6 - Удаление признаков с высокой корреляцией</vt:lpstr>
      <vt:lpstr>Разведочный анализ данных (EDA) Шаг 7 - Удаление шумов</vt:lpstr>
      <vt:lpstr>Разведочный анализ данных (EDA)  Шаг 7 - Удаление шумов  </vt:lpstr>
      <vt:lpstr>Разведочный анализ данных (EDA)  Шаг 9 - Кодирование категориальных признаков</vt:lpstr>
      <vt:lpstr>Разведочный анализ данных (EDA)  Шаг 8 - Масштабирование числовых признаков</vt:lpstr>
      <vt:lpstr>Балансировка целевого признака</vt:lpstr>
      <vt:lpstr>Разделение данных на train и test</vt:lpstr>
      <vt:lpstr>Использованные модели классификации</vt:lpstr>
      <vt:lpstr>Logistic Regression</vt:lpstr>
      <vt:lpstr>GradientBoostingClassifier</vt:lpstr>
      <vt:lpstr>Neural Network / MLP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mm kk</dc:creator>
  <cp:lastModifiedBy>mm kk</cp:lastModifiedBy>
  <cp:revision>4</cp:revision>
  <dcterms:created xsi:type="dcterms:W3CDTF">2026-04-28T17:33:35Z</dcterms:created>
  <dcterms:modified xsi:type="dcterms:W3CDTF">2026-04-29T15:26:20Z</dcterms:modified>
</cp:coreProperties>
</file>